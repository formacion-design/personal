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Open Sauce" panose="020B0604020202020204" charset="0"/>
      <p:regular r:id="rId36"/>
    </p:embeddedFont>
    <p:embeddedFont>
      <p:font typeface="Open Sauce Heavy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74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996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Bienvenida. Esta capacitación explica cómo funciona el PGIRASA, el Plan de Gestión Integral de Residuos Generados en la Atención en Salud y Otras Actividades, con base en la Resolución 591 de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Seis objetivos. Al final, cada persona debe saber separar un residuo, qué hacer con un cortopunzante y cómo se entregan los residuos al gestor.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PGIRASA es el documento que organiza toda la gestión de residuos. Se aplica en los centros de trabajo de la organización con servicios farmacéuticos y cubre desde la generación del residuo hasta la entrega al gestor autorizado.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Norma principal: Resolución 591 de 2024, conjunta de los ministerios de Salud y de Ambiente. Deroga la Resolución 1164 de 2002; su plazo de transición de dieciocho meses ya terminó.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gestión integral tiene dos partes: la interna, que depende de nosotros dentro de la instalación, y la externa, que hacen los gestores y prestadores autorizados.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 dos grandes clases son los residuos no peligrosos y los peligrosos. En nuestra actividad, los peligrosos son los cortopunzantes y los medicamentos vencidos o deteriorados.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de colores de la Resolución 2184 de 2019 (modificada por la 1344 de 2020). Los residuos peligrosos con riesgo biológico y los medicamentos vencidos van en caneca y bolsa roja, rotuladas.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Reglas básicas de segregación en la fuente: llenado máximo a tres cuartas partes, no compactar bolsas peligrosas, peso máximo de 8 kg por bolsa y cierre con nudo.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 caneca y toda bolsa de residuos peligrosos o aprovechables debe estar rotulada. Un residuo sin rótulo no se puede gestionar con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Movimiento interno: llevar los residuos desde el lugar donde se generan hasta la unidad de almacenamiento, de forma segura y sin contaminación cruzada. Cada centro de trabajo define sus rutas y frecuencias en el Anexo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módulo técnico de almacenamiento temporal es exclusivo para residuos peligrosos y lo maneja solo el personal designado. Cada centro de trabajo documenta sus unidades de almacenamiento en el Anexo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medicamentos vencidos se gestionan como residuos peligrosos. Los de control especial tienen un procedimiento propio de custodia y destrucción con la autoridad competente.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Procedimiento general de limpieza y sanitización de recipientes y unidades de almacenamiento, para evitar la contaminación cruzada.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clasificación como generador se calcula con el promedio de los últimos seis meses de residuos peligrosos pesados. Cada centro de trabajo la registra en el Anexo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corriente de residuos tiene su ruta externa. Los gestores y prestadores de cada centro de trabajo se registran en el Anexo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Pasos de la entrega segura de cortopunzantes, medicamentos vencidos y residuos de contingencia. El peso se registra en el Formato RH1 y los soportes se conservan.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Tiempos de conservación de los registros: cinco años para certificados, comprobantes y Formato RH1; dos años para los resultados de auditorías. Además se presenta un informe anual de gestión interna.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PGIRASA contempla siete contingencias. Ante la ruptura de un recipiente de cortopunzantes se sigue el paso a paso mostrado; nunca se recogen con las manos.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Seguridad y salud en el trabajo en el manejo de residuos. Ante un accidente por pinchazo o corte, lavar, reportar a la ARL e informar al responsable.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seguimiento incluye cronograma anual, auditorías internas, indicadores de capacitación y de destinación de los residuos, y el informe anual a la autoridad sanitaria.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Resolución 591 de 2024 exige siete componentes para la estrategia de recepción de cortopunzantes de pacientes. Discolmets los cumple con la campaña Punto Seguro.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Mensaje de la campaña Punto Seguro para los pacientes: entregar en una botella rígida rotulada con la fecha de inicio, cuando esté llena hasta tres cuartas partes o antes de dos meses. No se aceptan bolsas, cajas ni frascos de vidrio.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Condiciones de recepción: guantes, no abrir ni manipular el contenido, verificar sellado y rótulo, registrar en el Formato RH1 y depositar en el módulo técnico. Los recipientes recibidos se gestionan como residuo con riesgo biológico hasta entregarlos al gestor autorizado.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once anexos son el formato donde cada centro de trabajo consigna su información particular: identificación, fuentes, recipientes, almacenamiento, gestores, rutas, contingencias, capacitación, estrategia de cortopunzantes e informe 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Pedir a cada asistente que elija al menos dos compromisos y los comparta con su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 y agradecimiento. Recordar que el PGIRASA completo está disponible para consulta en el Sistema de Gestión.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45330" y="2468880"/>
            <a:ext cx="9326880" cy="356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spc="-132" dirty="0">
                <a:solidFill>
                  <a:srgbClr val="0B284D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PGIRASA: GESTIÓN INTEGRAL DE RESIDUOS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2827" y="6492240"/>
            <a:ext cx="9144000" cy="46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000" spc="-71" dirty="0" err="1">
                <a:solidFill>
                  <a:srgbClr val="0B284D"/>
                </a:solidFill>
                <a:latin typeface="Open Sauce"/>
                <a:ea typeface="Open Sauce"/>
                <a:cs typeface="Open Sauce"/>
                <a:sym typeface="Open Sauce"/>
              </a:rPr>
              <a:t>Capacitación Gestión HSEQ</a:t>
            </a:r>
            <a:endParaRPr lang="en-US" sz="3591" spc="-71" dirty="0">
              <a:solidFill>
                <a:srgbClr val="0B284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6" name="Ilustracion portada" descr="p_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560320"/>
            <a:ext cx="7132320" cy="7132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Objetivos de la capacitación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clip" descr="p_cl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56616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79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Entender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5B6B80"/>
                </a:solidFill>
                <a:latin typeface="Open Sauce"/>
              </a:rPr>
              <a:t>Qué es el PGIRASA y por qué lo exige la Resolución 591 de 2024.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o p_bin_g" descr="p_bin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5661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Separar bien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7091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5B6B80"/>
                </a:solidFill>
                <a:latin typeface="Open Sauce"/>
              </a:rPr>
              <a:t>Clasificar los residuos con el código de colores.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o p_syringe" descr="p_syri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0120" y="35661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78840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Manejar con seguridad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47091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5B6B80"/>
                </a:solidFill>
                <a:latin typeface="Open Sauce"/>
              </a:rPr>
              <a:t>Cortopunzantes y medicamentos vencidos.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o p_cal" descr="p_c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6766559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40279" y="676655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Conocer el ciclo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790955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5B6B80"/>
                </a:solidFill>
                <a:latin typeface="Open Sauce"/>
              </a:rPr>
              <a:t>Desde que se genera el residuo hasta su entrega al gestor.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o p_bottle" descr="p_bott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6766559"/>
            <a:ext cx="914400" cy="914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09560" y="676655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Recibir a los pacientes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790955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5B6B80"/>
                </a:solidFill>
                <a:latin typeface="Open Sauce"/>
              </a:rPr>
              <a:t>Estrategia «Punto Seguro» para cortopunzantes.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7008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o p_shield" descr="p_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90120" y="6766559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578840" y="676655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Comprometerme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0" y="790955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5B6B80"/>
                </a:solidFill>
                <a:latin typeface="Open Sauce"/>
              </a:rPr>
              <a:t>Cumplir cada paso y reportar a tiempo.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¿Qué es el PGIRASA?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16824960" cy="210312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246120"/>
            <a:ext cx="15910559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BE9A8"/>
                </a:solidFill>
                <a:latin typeface="Open Sauce"/>
              </a:rPr>
              <a:t>PGIRASA</a:t>
            </a:r>
          </a:p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Open Sauce"/>
              </a:rPr>
              <a:t>Plan de Gestión Integral de Residuos Generados en la Atención en Salud y Otras Actividades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o p_clip" descr="p_cl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897879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79" y="589787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0B284D"/>
                </a:solidFill>
                <a:latin typeface="Open Sauce Heavy"/>
              </a:rPr>
              <a:t>Es el plan de la organización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7040879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Define cómo se separan, mueven, almacenan y entregan los residuos, y quién hace cada cosa.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57784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o p_shield" descr="p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5897879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09560" y="589787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0B284D"/>
                </a:solidFill>
                <a:latin typeface="Open Sauce Heavy"/>
              </a:rPr>
              <a:t>Protege a las personas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7040879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Previene riesgos para la salud del personal, los pacientes y la comunidad, y cuida el ambiente.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80" y="557784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o i_book" descr="i_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0120" y="5897879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578840" y="589787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0B284D"/>
                </a:solidFill>
                <a:latin typeface="Open Sauce Heavy"/>
              </a:rPr>
              <a:t>Cumple la norma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0" y="7040879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Se elabora con la Resolución 591 de 2024 y hace las veces del plan de gestión de residuos peligrosos.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Marco normativo en el que se basa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486400" cy="626364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BE9A8"/>
                </a:solidFill>
                <a:latin typeface="Open Sauce Heavy"/>
              </a:rPr>
              <a:t>Resolución 591 de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475488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Open Sauce"/>
              </a:rPr>
              <a:t>Ministerios de Salud y de Ambiente. Adopta el Manual para la gestión integral de residuos de la atención en salud y otras actividades. Reemplaza la Resolución 1164 de 2002.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4612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3383279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 Heavy"/>
              </a:rPr>
              <a:t>Decreto 780 de 2016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93192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B80"/>
                </a:solidFill>
                <a:latin typeface="Open Sauce"/>
              </a:rPr>
              <a:t>Decreto Único del sector salud. Compiló el Decreto 351 de 2014 sobre gestión de estos residuos.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978640" y="324612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252960" y="3383279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 Heavy"/>
              </a:rPr>
              <a:t>Decreto 1076 de 2015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0" y="393192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B80"/>
                </a:solidFill>
                <a:latin typeface="Open Sauce"/>
              </a:rPr>
              <a:t>Decreto Único del sector ambiente. Reglas sobre residuos peligrosos y sus generadores.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376672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5513832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 Heavy"/>
              </a:rPr>
              <a:t>Ley 1252 de 2008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6062472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B80"/>
                </a:solidFill>
                <a:latin typeface="Open Sauce"/>
              </a:rPr>
              <a:t>Normas sobre residuos y desechos peligrosos: el generador es responsable de ellos.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978640" y="5376672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252960" y="5513832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 Heavy"/>
              </a:rPr>
              <a:t>Resolución 2184 de 2019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0" y="6062472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B80"/>
                </a:solidFill>
                <a:latin typeface="Open Sauce"/>
              </a:rPr>
              <a:t>Código de colores para separar residuos en la fuente (modificada por la Resolución 1344 de 2020).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7507224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7644384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 Heavy"/>
              </a:rPr>
              <a:t>Otras normas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8193024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B80"/>
                </a:solidFill>
                <a:latin typeface="Open Sauce"/>
              </a:rPr>
              <a:t>Resolución 1362 de 2007 (registro de generadores), Resolución 851 de 2022 (residuos electrónicos) y Resolución 312 de 2019 (seguridad y salud en el trabajo).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9601200"/>
            <a:ext cx="1682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B80"/>
                </a:solidFill>
                <a:latin typeface="Open Sauce"/>
              </a:rPr>
              <a:t>Los plazos de transición de la Resolución 591 de 2024 ya vencieron: hoy rige el nuevo Manual.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El PGIRASA en un vistazo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108960" cy="40233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bin_g" descr="p_bin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356616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3492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>
                <a:solidFill>
                  <a:srgbClr val="0B284D"/>
                </a:solidFill>
                <a:latin typeface="Open Sauce Heavy"/>
              </a:rPr>
              <a:t>Separar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98932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5B6B80"/>
                </a:solidFill>
                <a:latin typeface="Open Sauce"/>
              </a:rPr>
              <a:t>En el lugar donde se genera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448056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D9A41E"/>
                </a:solidFill>
                <a:latin typeface="Open Sauce Heavy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291840"/>
            <a:ext cx="3108960" cy="40233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o p_glove" descr="p_glo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566160"/>
            <a:ext cx="1645920" cy="1645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3400" y="53492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>
                <a:solidFill>
                  <a:srgbClr val="0B284D"/>
                </a:solidFill>
                <a:latin typeface="Open Sauce Heavy"/>
              </a:rPr>
              <a:t>Mover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98932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5B6B80"/>
                </a:solidFill>
                <a:latin typeface="Open Sauce"/>
              </a:rPr>
              <a:t>Hacia el almacenamiento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48056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D9A41E"/>
                </a:solidFill>
                <a:latin typeface="Open Sauce Heavy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291840"/>
            <a:ext cx="3108960" cy="40233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o p_shield" descr="p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566160"/>
            <a:ext cx="1645920" cy="1645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0" y="53492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>
                <a:solidFill>
                  <a:srgbClr val="0B284D"/>
                </a:solidFill>
                <a:latin typeface="Open Sauce Heavy"/>
              </a:rPr>
              <a:t>Almacenar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98932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5B6B80"/>
                </a:solidFill>
                <a:latin typeface="Open Sauce"/>
              </a:rPr>
              <a:t>En un lugar seguro y cerrado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448056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D9A41E"/>
                </a:solidFill>
                <a:latin typeface="Open Sauce Heavy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018520" y="3291840"/>
            <a:ext cx="3108960" cy="40233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o s_externa" descr="s_exter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50040" y="3566160"/>
            <a:ext cx="1645920" cy="1645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01400" y="53492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>
                <a:solidFill>
                  <a:srgbClr val="0B284D"/>
                </a:solidFill>
                <a:latin typeface="Open Sauce Heavy"/>
              </a:rPr>
              <a:t>Entregar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598932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5B6B80"/>
                </a:solidFill>
                <a:latin typeface="Open Sauce"/>
              </a:rPr>
              <a:t>Al gestor o al servicio de aseo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0" y="4480560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D9A41E"/>
                </a:solidFill>
                <a:latin typeface="Open Sauce Heavy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447520" y="3291840"/>
            <a:ext cx="3108960" cy="40233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o p_clip" descr="p_cli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79040" y="3566160"/>
            <a:ext cx="1645920" cy="1645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630400" y="53492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>
                <a:solidFill>
                  <a:srgbClr val="0B284D"/>
                </a:solidFill>
                <a:latin typeface="Open Sauce Heavy"/>
              </a:rPr>
              <a:t>Registrar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76120" y="598932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5B6B80"/>
                </a:solidFill>
                <a:latin typeface="Open Sauce"/>
              </a:rPr>
              <a:t>Pesos, comprobantes y certificados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7589520"/>
            <a:ext cx="8321040" cy="192024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7589520"/>
            <a:ext cx="758952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BE9A8"/>
                </a:solidFill>
                <a:latin typeface="Open Sauce"/>
              </a:rPr>
              <a:t>Gestión interna</a:t>
            </a:r>
          </a:p>
          <a:p>
            <a:pPr algn="l">
              <a:spcAft>
                <a:spcPts val="400"/>
              </a:spcAft>
            </a:pPr>
            <a:r>
              <a:rPr sz="2100" b="0">
                <a:solidFill>
                  <a:srgbClr val="FFFFFF"/>
                </a:solidFill>
                <a:latin typeface="Open Sauce"/>
              </a:rPr>
              <a:t>Lo que hacemos dentro de la instalación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7589520"/>
            <a:ext cx="8321040" cy="1920240"/>
          </a:xfrm>
          <a:prstGeom prst="roundRect">
            <a:avLst>
              <a:gd name="adj" fmla="val 6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0" y="7589520"/>
            <a:ext cx="758952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Open Sauce"/>
              </a:rPr>
              <a:t>Gestión externa</a:t>
            </a:r>
          </a:p>
          <a:p>
            <a:pPr algn="l">
              <a:spcAft>
                <a:spcPts val="400"/>
              </a:spcAft>
            </a:pPr>
            <a:r>
              <a:rPr sz="2100" b="0">
                <a:solidFill>
                  <a:srgbClr val="FFFFFF"/>
                </a:solidFill>
                <a:latin typeface="Open Sauce"/>
              </a:rPr>
              <a:t>Lo que ocurre fuera: recolección, transporte y disposición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97280" y="329184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D9A41E"/>
                </a:solidFill>
                <a:latin typeface="Open Sauce"/>
              </a:rPr>
              <a:t>PARTE 1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097280" y="402336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0" b="1">
                <a:solidFill>
                  <a:srgbClr val="0B284D"/>
                </a:solidFill>
                <a:latin typeface="Open Sauce Heavy"/>
              </a:rPr>
              <a:t>GESTIÓN INTERNA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217920"/>
            <a:ext cx="2926080" cy="128016"/>
          </a:xfrm>
          <a:prstGeom prst="rect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6675120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>
                <a:solidFill>
                  <a:srgbClr val="5B6B80"/>
                </a:solidFill>
                <a:latin typeface="Open Sauce"/>
              </a:rPr>
              <a:t>Separar, mover y almacenar los residuos de forma segura.</a:t>
            </a:r>
          </a:p>
        </p:txBody>
      </p:sp>
      <p:pic>
        <p:nvPicPr>
          <p:cNvPr id="7" name="Icono seccion" descr="s_inter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0" y="3291840"/>
            <a:ext cx="4754880" cy="4754880"/>
          </a:xfrm>
          <a:prstGeom prst="rect">
            <a:avLst/>
          </a:prstGeom>
        </p:spPr>
      </p:pic>
      <p:sp>
        <p:nvSpPr>
          <p:cNvPr id="8" name="Pie"/>
          <p:cNvSpPr txBox="1"/>
          <p:nvPr/>
        </p:nvSpPr>
        <p:spPr>
          <a:xfrm>
            <a:off x="731520" y="989380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9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¿Qué residuos generamos?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8138160" cy="822960"/>
          </a:xfrm>
          <a:prstGeom prst="roundRect">
            <a:avLst>
              <a:gd name="adj" fmla="val 6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7406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uce Heavy"/>
              </a:rPr>
              <a:t>No peligrosos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3246120"/>
            <a:ext cx="8503920" cy="822960"/>
          </a:xfrm>
          <a:prstGeom prst="roundRect">
            <a:avLst>
              <a:gd name="adj" fmla="val 6000"/>
            </a:avLst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0" y="32461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uce Heavy"/>
              </a:rPr>
              <a:t>Peligrosos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8138160" cy="16459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o p_bin_w" descr="p_b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80559"/>
            <a:ext cx="109728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0" y="434340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Aprovechables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89204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B80"/>
                </a:solidFill>
                <a:latin typeface="Open Sauce"/>
              </a:rPr>
              <a:t>Papel, cartón, plástico y vidrio.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989320"/>
            <a:ext cx="8138160" cy="16459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o p_bin_g" descr="p_bin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6263640"/>
            <a:ext cx="1097280" cy="1097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86000" y="612648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Orgánicos aprovechables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667512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B80"/>
                </a:solidFill>
                <a:latin typeface="Open Sauce"/>
              </a:rPr>
              <a:t>Restos de comida.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7772400"/>
            <a:ext cx="8138160" cy="16459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o p_bin_k" descr="p_bin_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8046720"/>
            <a:ext cx="1097280" cy="1097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6000" y="790956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No aprovechables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845820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B80"/>
                </a:solidFill>
                <a:latin typeface="Open Sauce"/>
              </a:rPr>
              <a:t>Residuos de barrido, servilletas, papel higiénico, icopor y empaques metalizados.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4206240"/>
            <a:ext cx="8503920" cy="16459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o p_syringe" descr="p_syri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4480559"/>
            <a:ext cx="1097280" cy="10972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07040" y="434340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B284D"/>
                </a:solidFill>
                <a:latin typeface="Open Sauce Heavy"/>
              </a:rPr>
              <a:t>Con riesgo biológico: cortopunzantes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4892040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B80"/>
                </a:solidFill>
                <a:latin typeface="Open Sauce"/>
              </a:rPr>
              <a:t>Agujas, lancetas, jeringas, lapiceros de insulina y restos de ampolletas.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5989320"/>
            <a:ext cx="8503920" cy="16459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o p_pill" descr="p_pi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6263640"/>
            <a:ext cx="1097280" cy="10972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607040" y="612648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B284D"/>
                </a:solidFill>
                <a:latin typeface="Open Sauce Heavy"/>
              </a:rPr>
              <a:t>Tóxicos: medicamentos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675120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B80"/>
                </a:solidFill>
                <a:latin typeface="Open Sauce"/>
              </a:rPr>
              <a:t>Medicamentos vencidos o deteriorados y residuos de derrames o rupturas.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7772400"/>
            <a:ext cx="8503920" cy="1737360"/>
          </a:xfrm>
          <a:prstGeom prst="roundRect">
            <a:avLst>
              <a:gd name="adj" fmla="val 6000"/>
            </a:avLst>
          </a:prstGeom>
          <a:solidFill>
            <a:srgbClr val="FB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0" y="7772400"/>
            <a:ext cx="777240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"/>
              </a:rPr>
              <a:t>Un residuo peligroso nunca se mezcla con los no peligrosos.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Código de colores: ¿en qué caneca va?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4023360" cy="626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B2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bin_w" descr="p_b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3474720"/>
            <a:ext cx="1554480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2120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0B284D"/>
                </a:solidFill>
                <a:latin typeface="Open Sauce Heavy"/>
              </a:rPr>
              <a:t>BLANCA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94360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0B284D"/>
                </a:solidFill>
                <a:latin typeface="Open Sauce"/>
              </a:rPr>
              <a:t>Aprovechables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858000"/>
            <a:ext cx="34747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0B284D"/>
                </a:solidFill>
                <a:latin typeface="Open Sauce"/>
              </a:rPr>
              <a:t>Plástico, papel, cartón y vidrio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3246120"/>
            <a:ext cx="4023360" cy="6263640"/>
          </a:xfrm>
          <a:prstGeom prst="roundRect">
            <a:avLst>
              <a:gd name="adj" fmla="val 6000"/>
            </a:avLst>
          </a:prstGeom>
          <a:solidFill>
            <a:srgbClr val="4C9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o p_bin_g" descr="p_bin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474720"/>
            <a:ext cx="1554480" cy="1554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6360" y="52120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Open Sauce Heavy"/>
              </a:rPr>
              <a:t>VERDE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94360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uce"/>
              </a:rPr>
              <a:t>Orgánicos aprovechables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6858000"/>
            <a:ext cx="34747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Open Sauce"/>
              </a:rPr>
              <a:t>Restos de comida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3246120"/>
            <a:ext cx="4023360" cy="6263640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o p_bin_k" descr="p_bin_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880" y="3474720"/>
            <a:ext cx="155448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18320" y="52120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Open Sauce Heavy"/>
              </a:rPr>
              <a:t>NEGRA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594360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uce"/>
              </a:rPr>
              <a:t>No aprovechables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858000"/>
            <a:ext cx="34747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Open Sauce"/>
              </a:rPr>
              <a:t>Barrido, servilletas, papel higiénico, icopor, empaques metalizados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87400" y="3246120"/>
            <a:ext cx="4023360" cy="6263640"/>
          </a:xfrm>
          <a:prstGeom prst="roundRect">
            <a:avLst>
              <a:gd name="adj" fmla="val 6000"/>
            </a:avLst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o p_bin_r" descr="p_bin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1840" y="3474720"/>
            <a:ext cx="1554480" cy="1554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670280" y="52120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Open Sauce Heavy"/>
              </a:rPr>
              <a:t>ROJA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0" y="594360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uce"/>
              </a:rPr>
              <a:t>Peligrosos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61720" y="6858000"/>
            <a:ext cx="34747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Open Sauce"/>
              </a:rPr>
              <a:t>Cortopunzantes y medicamentos vencidos o deteriorados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Reglas para separar bien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3566160"/>
            <a:ext cx="1371600" cy="109728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56616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Open Sauce Heavy"/>
              </a:rPr>
              <a:t>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356616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Llena hasta tres cuartas partes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9204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Recipientes y bolsas se llenan máximo hasta ¾ de su capacidad.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20840" y="3566160"/>
            <a:ext cx="1371600" cy="1097280"/>
          </a:xfrm>
          <a:prstGeom prst="roundRect">
            <a:avLst>
              <a:gd name="adj" fmla="val 6000"/>
            </a:avLst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356616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0B284D"/>
                </a:solidFill>
                <a:latin typeface="Open Sauce Heavy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56616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No compactes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89204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Nunca compactes las bolsas con residuos peligrosos.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8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2390120" y="3566160"/>
            <a:ext cx="1371600" cy="109728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90120" y="356616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Open Sauce Heavy"/>
              </a:rPr>
              <a:t>8 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44600" y="356616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Peso máximo de la bolsa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0" y="489204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Una bolsa con residuos no debe pasar de 8 kg.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1560" y="6766559"/>
            <a:ext cx="1371600" cy="1097280"/>
          </a:xfrm>
          <a:prstGeom prst="roundRect">
            <a:avLst>
              <a:gd name="adj" fmla="val 6000"/>
            </a:avLst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6766559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0B284D"/>
                </a:solidFill>
                <a:latin typeface="Open Sauce Heavy"/>
              </a:rPr>
              <a:t>SÍ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39" y="6766559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Cierra con nudo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809244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Sin ganchos ni cinta, y rotula la bolsa antes de ponerla en el recipiente.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720840" y="6766559"/>
            <a:ext cx="1371600" cy="109728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20840" y="6766559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Open Sauce Heavy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6766559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Un residuo, una caneca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809244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No mezcles peligrosos con no peligrosos ni con reciclables.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07008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2390120" y="6766559"/>
            <a:ext cx="1371600" cy="1097280"/>
          </a:xfrm>
          <a:prstGeom prst="roundRect">
            <a:avLst>
              <a:gd name="adj" fmla="val 6000"/>
            </a:avLst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390120" y="6766559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0B284D"/>
                </a:solidFill>
                <a:latin typeface="Open Sauce Heavy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44600" y="6766559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Ayudas visuales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35840" y="809244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Usa los avisos del código de colores en cada punto ecológico.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Rotula siempre: etiquetas y bolsas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8321040" cy="62636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bin_r" descr="p_bin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520440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7440" y="35204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B284D"/>
                </a:solidFill>
                <a:latin typeface="Open Sauce Heavy"/>
              </a:rPr>
              <a:t>Etiqueta del recipiente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846320"/>
            <a:ext cx="76809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200" b="0">
                <a:solidFill>
                  <a:srgbClr val="0B284D"/>
                </a:solidFill>
                <a:latin typeface="Open Sauce"/>
              </a:rPr>
              <a:t>Símbolo del residuo: riesgo biológico para peligrosos, reciclaje para aprovechables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200" b="0">
                <a:solidFill>
                  <a:srgbClr val="0B284D"/>
                </a:solidFill>
                <a:latin typeface="Open Sauce"/>
              </a:rPr>
              <a:t>Clasificación: qué residuo se puede depositar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200" b="0">
                <a:solidFill>
                  <a:srgbClr val="0B284D"/>
                </a:solidFill>
                <a:latin typeface="Open Sauce"/>
              </a:rPr>
              <a:t>Área o servicio donde se genera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246120"/>
            <a:ext cx="8321040" cy="62636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o p_clip" descr="p_c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3520440"/>
            <a:ext cx="109728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81360" y="35204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B284D"/>
                </a:solidFill>
                <a:latin typeface="Open Sauce Heavy"/>
              </a:rPr>
              <a:t>Rótulo de la bolsa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4846320"/>
            <a:ext cx="76809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0">
                <a:solidFill>
                  <a:srgbClr val="0B284D"/>
                </a:solidFill>
                <a:latin typeface="Open Sauce"/>
              </a:rPr>
              <a:t>Con marcador indeleble, antes de poner la bolsa en el recipiente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0">
                <a:solidFill>
                  <a:srgbClr val="0B284D"/>
                </a:solidFill>
                <a:latin typeface="Open Sauce"/>
              </a:rPr>
              <a:t>Nombre y dirección del establecimiento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0">
                <a:solidFill>
                  <a:srgbClr val="0B284D"/>
                </a:solidFill>
                <a:latin typeface="Open Sauce"/>
              </a:rPr>
              <a:t>Área o servicio que genera el residuo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0">
                <a:solidFill>
                  <a:srgbClr val="0B284D"/>
                </a:solidFill>
                <a:latin typeface="Open Sauce"/>
              </a:rPr>
              <a:t>Responsable que lo diligencia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0">
                <a:solidFill>
                  <a:srgbClr val="0B284D"/>
                </a:solidFill>
                <a:latin typeface="Open Sauce"/>
              </a:rPr>
              <a:t>Fecha de cierre de la bolsa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Movimiento interno de los residuos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cal" descr="p_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56616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79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 Heavy"/>
              </a:rPr>
              <a:t>En horas de menos circulación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Cuando hay menos usuarios, colaboradores y visitantes.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o p_pill" descr="p_p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5661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 Heavy"/>
              </a:rPr>
              <a:t>Lejos de lo limpio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7091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No coincide con el movimiento de medicamentos, alimentos o materiales limpios.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o p_cross" descr="p_cro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0120" y="35661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78840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 Heavy"/>
              </a:rPr>
              <a:t>Nada de mezclas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47091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Peligrosos y no peligrosos no se mueven al mismo tiempo ni en el mismo contenedor.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o p_bin_k" descr="p_bin_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6766559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40279" y="676655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 Heavy"/>
              </a:rPr>
              <a:t>Contenedores con tapa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790955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Rígidos, lavables, identificados y sin ductos para evacuar residuos.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o p_glove" descr="p_glo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6766559"/>
            <a:ext cx="914400" cy="914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09560" y="676655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 Heavy"/>
              </a:rPr>
              <a:t>Con protección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790955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Personal capacitado y con elementos de protección personal.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7008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o p_shield" descr="p_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90120" y="6766559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578840" y="676655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 Heavy"/>
              </a:rPr>
              <a:t>Lavado de manos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0" y="790955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Al terminar, lavado de manos y bioseguridad.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Almacenamiento interno seguro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8321040" cy="62636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shield" descr="p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520440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7440" y="35204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Módulo técnico para residuos peligrosos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846320"/>
            <a:ext cx="76809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0">
                <a:solidFill>
                  <a:srgbClr val="0B284D"/>
                </a:solidFill>
                <a:latin typeface="Open Sauce"/>
              </a:rPr>
              <a:t>Material resistente, lavable e impermeable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0">
                <a:solidFill>
                  <a:srgbClr val="0B284D"/>
                </a:solidFill>
                <a:latin typeface="Open Sauce"/>
              </a:rPr>
              <a:t>Puerta con llave: solo entra personal autorizado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0">
                <a:solidFill>
                  <a:srgbClr val="0B284D"/>
                </a:solidFill>
                <a:latin typeface="Open Sauce"/>
              </a:rPr>
              <a:t>Señalizado con el símbolo de riesgo biológico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0">
                <a:solidFill>
                  <a:srgbClr val="0B284D"/>
                </a:solidFill>
                <a:latin typeface="Open Sauce"/>
              </a:rPr>
              <a:t>En un lugar de poca circulación, aislado de las áreas de atención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0">
                <a:solidFill>
                  <a:srgbClr val="0B284D"/>
                </a:solidFill>
                <a:latin typeface="Open Sauce"/>
              </a:rPr>
              <a:t>Cada apertura, depósito y retiro se registra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246120"/>
            <a:ext cx="8321040" cy="626364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0" y="3474720"/>
            <a:ext cx="7589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BE9A8"/>
                </a:solidFill>
                <a:latin typeface="Open Sauce Heavy"/>
              </a:rPr>
              <a:t>Dentro del módulo</a:t>
            </a:r>
          </a:p>
        </p:txBody>
      </p:sp>
      <p:pic>
        <p:nvPicPr>
          <p:cNvPr id="12" name="Icono p_bin_r" descr="p_bin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4480560"/>
            <a:ext cx="109728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4480560"/>
            <a:ext cx="63093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Open Sauce"/>
              </a:rPr>
              <a:t>Caneca roja para medicamentos vencidos y derrames</a:t>
            </a:r>
          </a:p>
        </p:txBody>
      </p:sp>
      <p:pic>
        <p:nvPicPr>
          <p:cNvPr id="14" name="Icono p_syringe" descr="p_syri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6080760"/>
            <a:ext cx="109728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72800" y="6080760"/>
            <a:ext cx="63093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Open Sauce"/>
              </a:rPr>
              <a:t>Recipientes sellados de cortopunzantes</a:t>
            </a:r>
          </a:p>
        </p:txBody>
      </p:sp>
      <p:pic>
        <p:nvPicPr>
          <p:cNvPr id="16" name="Icono p_bottle" descr="p_bott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7680960"/>
            <a:ext cx="1097280" cy="1097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0" y="7680960"/>
            <a:ext cx="63093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Open Sauce"/>
              </a:rPr>
              <a:t>Recipientes de cortopunzantes entregados por pacientes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Medicamentos vencidos y de control especial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8321040" cy="62636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pill" descr="p_p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520440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7440" y="35204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B284D"/>
                </a:solidFill>
                <a:latin typeface="Open Sauce Heavy"/>
              </a:rPr>
              <a:t>Vencidos o deteriorados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846320"/>
            <a:ext cx="76809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1">
                <a:solidFill>
                  <a:srgbClr val="0B284D"/>
                </a:solidFill>
                <a:latin typeface="Open Sauce"/>
              </a:rPr>
              <a:t>Prevenir: </a:t>
            </a:r>
            <a:r>
              <a:rPr sz="2100" b="0">
                <a:solidFill>
                  <a:srgbClr val="0B284D"/>
                </a:solidFill>
                <a:latin typeface="Open Sauce"/>
              </a:rPr>
              <a:t>rotar los medicamentos próximos a vencer para que no se vuelvan residuo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1">
                <a:solidFill>
                  <a:srgbClr val="0B284D"/>
                </a:solidFill>
                <a:latin typeface="Open Sauce"/>
              </a:rPr>
              <a:t>Inutilizar </a:t>
            </a:r>
            <a:r>
              <a:rPr sz="2100" b="0">
                <a:solidFill>
                  <a:srgbClr val="0B284D"/>
                </a:solidFill>
                <a:latin typeface="Open Sauce"/>
              </a:rPr>
              <a:t>empaques, envases y rótulos antes de desecharlos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1">
                <a:solidFill>
                  <a:srgbClr val="0B284D"/>
                </a:solidFill>
                <a:latin typeface="Open Sauce"/>
              </a:rPr>
              <a:t>Depositar </a:t>
            </a:r>
            <a:r>
              <a:rPr sz="2100" b="0">
                <a:solidFill>
                  <a:srgbClr val="0B284D"/>
                </a:solidFill>
                <a:latin typeface="Open Sauce"/>
              </a:rPr>
              <a:t>en bolsa roja rotulada con el tipo de residuo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1">
                <a:solidFill>
                  <a:srgbClr val="0B284D"/>
                </a:solidFill>
                <a:latin typeface="Open Sauce"/>
              </a:rPr>
              <a:t>Entregar </a:t>
            </a:r>
            <a:r>
              <a:rPr sz="2100" b="0">
                <a:solidFill>
                  <a:srgbClr val="0B284D"/>
                </a:solidFill>
                <a:latin typeface="Open Sauce"/>
              </a:rPr>
              <a:t>al gestor autorizado en la siguiente recolección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246120"/>
            <a:ext cx="8321040" cy="62636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o p_warn" descr="p_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3520440"/>
            <a:ext cx="109728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81360" y="35204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B284D"/>
                </a:solidFill>
                <a:latin typeface="Open Sauce Heavy"/>
              </a:rPr>
              <a:t>De control especial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4846320"/>
            <a:ext cx="76809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1">
                <a:solidFill>
                  <a:srgbClr val="0B284D"/>
                </a:solidFill>
                <a:latin typeface="Open Sauce"/>
              </a:rPr>
              <a:t>Manejo diferente: </a:t>
            </a:r>
            <a:r>
              <a:rPr sz="2100" b="0">
                <a:solidFill>
                  <a:srgbClr val="0B284D"/>
                </a:solidFill>
                <a:latin typeface="Open Sauce"/>
              </a:rPr>
              <a:t>se guardan en recipiente hermético y rotulado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1">
                <a:solidFill>
                  <a:srgbClr val="0B284D"/>
                </a:solidFill>
                <a:latin typeface="Open Sauce"/>
              </a:rPr>
              <a:t>Registro </a:t>
            </a:r>
            <a:r>
              <a:rPr sz="2100" b="0">
                <a:solidFill>
                  <a:srgbClr val="0B284D"/>
                </a:solidFill>
                <a:latin typeface="Open Sauce"/>
              </a:rPr>
              <a:t>en el libro oficial de control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1">
                <a:solidFill>
                  <a:srgbClr val="0B284D"/>
                </a:solidFill>
                <a:latin typeface="Open Sauce"/>
              </a:rPr>
              <a:t>Destrucción: </a:t>
            </a:r>
            <a:r>
              <a:rPr sz="2100" b="0">
                <a:solidFill>
                  <a:srgbClr val="0B284D"/>
                </a:solidFill>
                <a:latin typeface="Open Sauce"/>
              </a:rPr>
              <a:t>no la hace la organización; la realiza la autoridad sanitaria o el gestor autorizado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2100" b="1">
                <a:solidFill>
                  <a:srgbClr val="0B284D"/>
                </a:solidFill>
                <a:latin typeface="Open Sauce"/>
              </a:rPr>
              <a:t>Acta </a:t>
            </a:r>
            <a:r>
              <a:rPr sz="2100" b="0">
                <a:solidFill>
                  <a:srgbClr val="0B284D"/>
                </a:solidFill>
                <a:latin typeface="Open Sauce"/>
              </a:rPr>
              <a:t>de destrucción firmada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Limpieza y sanitización de recipientes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4747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2F6DB5"/>
                </a:solidFill>
                <a:latin typeface="Open Sauce Heav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58444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Limpia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3291840" cy="283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Retira los residuos sueltos y lava por dentro y por fuera con agua y detergente o desinfectante.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329184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2F6DB5"/>
                </a:solidFill>
                <a:latin typeface="Open Sauce Heav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58444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Enjuaga y seca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4572000"/>
            <a:ext cx="3291840" cy="283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Enjuaga con agua limpia y deja secar al aire o con un paño limpio.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329184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55480" y="34747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2F6DB5"/>
                </a:solidFill>
                <a:latin typeface="Open Sauce Heav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58444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Cambia la bolsa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572000"/>
            <a:ext cx="3291840" cy="283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Coloca una bolsa nueva, ajustada y del mismo color del recipiente.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487400" y="329184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807440" y="34747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2F6DB5"/>
                </a:solidFill>
                <a:latin typeface="Open Sauce Heav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67560" y="358444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Limpia el área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53160" y="4572000"/>
            <a:ext cx="3291840" cy="283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Recoge lo derramado, limpia el lugar y lava los utensilios de aseo.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8046720"/>
            <a:ext cx="16824960" cy="1097280"/>
          </a:xfrm>
          <a:prstGeom prst="roundRect">
            <a:avLst>
              <a:gd name="adj" fmla="val 6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8046720"/>
            <a:ext cx="16093439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Open Sauce"/>
              </a:rPr>
              <a:t>Si hay un derrame, se atiende según el plan de contingencias y luego se desinfecta el recipiente y la superficie.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¿Qué tan grande es el generador?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682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5B6B80"/>
                </a:solidFill>
                <a:latin typeface="Open Sauce"/>
              </a:rPr>
              <a:t>Según los kilos de residuos peligrosos que se generan cada 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6217920"/>
            <a:ext cx="4023360" cy="2011680"/>
          </a:xfrm>
          <a:prstGeom prst="roundRect">
            <a:avLst>
              <a:gd name="adj" fmla="val 6000"/>
            </a:avLst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64008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284D"/>
                </a:solidFill>
                <a:latin typeface="Open Sauce Heavy"/>
              </a:rPr>
              <a:t>Micro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713232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B284D"/>
                </a:solidFill>
                <a:latin typeface="Open Sauce"/>
              </a:rPr>
              <a:t>&lt; 10 kg al 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5577840"/>
            <a:ext cx="4023360" cy="2651760"/>
          </a:xfrm>
          <a:prstGeom prst="roundRect">
            <a:avLst>
              <a:gd name="adj" fmla="val 6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7800" y="576072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uce Heavy"/>
              </a:rPr>
              <a:t>Pequeño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649224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Open Sauce"/>
              </a:rPr>
              <a:t>10 a 99 kg al 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4937760"/>
            <a:ext cx="4023360" cy="329184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0" y="512064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uce Heavy"/>
              </a:rPr>
              <a:t>Mediano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585216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Open Sauce"/>
              </a:rPr>
              <a:t>100 a 999 kg al 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487400" y="4297680"/>
            <a:ext cx="4023360" cy="393192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61720" y="448056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uce Heavy"/>
              </a:rPr>
              <a:t>Grande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61720" y="521208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Open Sauce"/>
              </a:rPr>
              <a:t>1.000 kg o más al 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8412480"/>
            <a:ext cx="16824960" cy="1097280"/>
          </a:xfrm>
          <a:prstGeom prst="roundRect">
            <a:avLst>
              <a:gd name="adj" fmla="val 6000"/>
            </a:avLst>
          </a:prstGeom>
          <a:solidFill>
            <a:srgbClr val="FB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8412480"/>
            <a:ext cx="16093439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"/>
              </a:rPr>
              <a:t>La categoría define las exigencias: por ejemplo, quién lidera el plan, la unidad de almacenamiento y la frecuencia de recolección.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97280" y="329184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D9A41E"/>
                </a:solidFill>
                <a:latin typeface="Open Sauce"/>
              </a:rPr>
              <a:t>PARTE 2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097280" y="402336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000" b="1">
                <a:solidFill>
                  <a:srgbClr val="0B284D"/>
                </a:solidFill>
                <a:latin typeface="Open Sauce Heavy"/>
              </a:rPr>
              <a:t>GESTIÓN EXTERNA Y SEGUIMIENTO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217920"/>
            <a:ext cx="2926080" cy="128016"/>
          </a:xfrm>
          <a:prstGeom prst="rect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6675120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>
                <a:solidFill>
                  <a:srgbClr val="5B6B80"/>
                </a:solidFill>
                <a:latin typeface="Open Sauce"/>
              </a:rPr>
              <a:t>Entregar con seguridad, registrar y verificar.</a:t>
            </a:r>
          </a:p>
        </p:txBody>
      </p:sp>
      <p:pic>
        <p:nvPicPr>
          <p:cNvPr id="7" name="Icono seccion" descr="s_exter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0" y="3291840"/>
            <a:ext cx="4754880" cy="4754880"/>
          </a:xfrm>
          <a:prstGeom prst="rect">
            <a:avLst/>
          </a:prstGeom>
        </p:spPr>
      </p:pic>
      <p:sp>
        <p:nvSpPr>
          <p:cNvPr id="8" name="Pie"/>
          <p:cNvSpPr txBox="1"/>
          <p:nvPr/>
        </p:nvSpPr>
        <p:spPr>
          <a:xfrm>
            <a:off x="731520" y="989380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9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¿A dónde va cada residuo?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486400" cy="47548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bin_k" descr="p_bin_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520440"/>
            <a:ext cx="1280160" cy="1280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51760" y="352044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No aprovechables y orgánicos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7492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B6B80"/>
                </a:solidFill>
                <a:latin typeface="Open Sauce"/>
              </a:rPr>
              <a:t>Los recoge el prestador del servicio público de aseo, que los lleva a disposición final.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46120"/>
            <a:ext cx="5486400" cy="47548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o p_bin_w" descr="p_b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520440"/>
            <a:ext cx="1280160" cy="1280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21040" y="352044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Aprovechables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07492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B6B80"/>
                </a:solidFill>
                <a:latin typeface="Open Sauce"/>
              </a:rPr>
              <a:t>Se llevan al centro logístico asociado y de allí al gestor que los aprovecha (reciclaje).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3246120"/>
            <a:ext cx="5486400" cy="47548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o p_bin_r" descr="p_bin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5840" y="3520440"/>
            <a:ext cx="1280160" cy="1280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990320" y="352044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Peligrosos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507492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B6B80"/>
                </a:solidFill>
                <a:latin typeface="Open Sauce"/>
              </a:rPr>
              <a:t>Los recoge un gestor con licencia y permisos: cortopunzantes y medicamentos vencidos.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8229600"/>
            <a:ext cx="16824960" cy="128016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8229600"/>
            <a:ext cx="16093439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Open Sauce"/>
              </a:rPr>
              <a:t>Los residuos peligrosos solo se entregan a gestores autorizados. El gestor da un certificado de tratamiento o disposición final.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Entrega segura al gestor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C8372D"/>
                </a:solidFill>
                <a:latin typeface="Open Sauce Heav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538727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Sella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26279"/>
            <a:ext cx="4754880" cy="164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Cierra el recipiente al llegar a ¾ de su capacidad y ponlo en bolsa roja.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34290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C8372D"/>
                </a:solidFill>
                <a:latin typeface="Open Sauce Heav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538727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Rotula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526279"/>
            <a:ext cx="4754880" cy="164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Anota la fecha de cierre o retiro.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90120" y="34290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C8372D"/>
                </a:solidFill>
                <a:latin typeface="Open Sauce Heav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0" y="3538727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Reemplaza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4526279"/>
            <a:ext cx="4754880" cy="164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Instala de inmediato un recipiente nuevo con su fecha de apertura.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66294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C8372D"/>
                </a:solidFill>
                <a:latin typeface="Open Sauce Heav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6739128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Pesa y registra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7726679"/>
            <a:ext cx="4754880" cy="164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Pesa los residuos peligrosos y anota el peso en el Formato RH1.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66294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C8372D"/>
                </a:solidFill>
                <a:latin typeface="Open Sauce Heavy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6739128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Recibe el comprobante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7726679"/>
            <a:ext cx="4754880" cy="164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Exige el comprobante de recolección del transportador.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7008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90120" y="66294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C8372D"/>
                </a:solidFill>
                <a:latin typeface="Open Sauce Heavy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50240" y="6739128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Guarda el certificado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0" y="7726679"/>
            <a:ext cx="4754880" cy="164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Conserva el certificado de tratamiento o disposición final.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Registros: ¿cuánto tiempo se guardan?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0" b="1">
                <a:solidFill>
                  <a:srgbClr val="FFFFFF"/>
                </a:solidFill>
                <a:latin typeface="Open Sauce Heavy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uce"/>
              </a:rPr>
              <a:t>años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Open Sauce"/>
              </a:rPr>
              <a:t>Certificados del gestor, comprobantes de recolección y Formato RH1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4612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34290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0" b="1">
                <a:solidFill>
                  <a:srgbClr val="0B284D"/>
                </a:solidFill>
                <a:latin typeface="Open Sauce Heav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07492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B284D"/>
                </a:solidFill>
                <a:latin typeface="Open Sauce"/>
              </a:rPr>
              <a:t>años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85216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0B284D"/>
                </a:solidFill>
                <a:latin typeface="Open Sauce"/>
              </a:rPr>
              <a:t>Resultados de las auditorías internas, con sus soportes y acciones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324612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435840" y="34290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0" b="1">
                <a:solidFill>
                  <a:srgbClr val="FFFFFF"/>
                </a:solidFill>
                <a:latin typeface="Open Sauce Heavy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0" y="507492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Open Sauce"/>
              </a:rPr>
              <a:t>informe al año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585216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Open Sauce"/>
              </a:rPr>
              <a:t>Informe de la gestión interna para la Secretaría de Salud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7772400"/>
            <a:ext cx="16824960" cy="17373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o p_clip" descr="p_cl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7955279"/>
            <a:ext cx="1371600" cy="1371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51760" y="7772400"/>
            <a:ext cx="1463040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"/>
              </a:rPr>
              <a:t>Formato RH1: </a:t>
            </a:r>
            <a:r>
              <a:rPr sz="2100" b="0">
                <a:solidFill>
                  <a:srgbClr val="0B284D"/>
                </a:solidFill>
                <a:latin typeface="Open Sauce"/>
              </a:rPr>
              <a:t>aquí se anotan los kilos de residuos, la entrega al gestor y los controles. Es la base para calcular los indicadores.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Si algo sale mal: planes de contingencia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pill" descr="p_p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383279"/>
            <a:ext cx="1051560" cy="1051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48056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B284D"/>
                </a:solidFill>
                <a:latin typeface="Open Sauce"/>
              </a:rPr>
              <a:t>Derrames o rupturas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24612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o p_warn" descr="p_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383279"/>
            <a:ext cx="1051560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0" y="448056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B284D"/>
                </a:solidFill>
                <a:latin typeface="Open Sauce"/>
              </a:rPr>
              <a:t>Incendio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4612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o p_cal" descr="p_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3383279"/>
            <a:ext cx="1051560" cy="1051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92240" y="448056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B284D"/>
                </a:solidFill>
                <a:latin typeface="Open Sauce"/>
              </a:rPr>
              <a:t>Falla en la recolección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578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o p_bin_r" descr="p_bin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80" y="5394960"/>
            <a:ext cx="1051560" cy="1051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649224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B284D"/>
                </a:solidFill>
                <a:latin typeface="Open Sauce"/>
              </a:rPr>
              <a:t>Inundación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52578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o p_shield" descr="p_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5394960"/>
            <a:ext cx="1051560" cy="1051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57600" y="649224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B284D"/>
                </a:solidFill>
                <a:latin typeface="Open Sauce"/>
              </a:rPr>
              <a:t>Sin agua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25780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o p_glove" descr="p_glo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0" y="5394960"/>
            <a:ext cx="1051560" cy="10515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92240" y="649224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B284D"/>
                </a:solidFill>
                <a:latin typeface="Open Sauce"/>
              </a:rPr>
              <a:t>Sin energía y mayor generación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246120"/>
            <a:ext cx="8229600" cy="388620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0" y="3337560"/>
            <a:ext cx="74980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BE9A8"/>
                </a:solidFill>
                <a:latin typeface="Open Sauce Heavy"/>
              </a:rPr>
              <a:t>Se rompe un recipiente de cortopunzantes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114800"/>
            <a:ext cx="7498079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1800" b="0">
                <a:solidFill>
                  <a:srgbClr val="FFFFFF"/>
                </a:solidFill>
                <a:latin typeface="Open Sauce"/>
              </a:rPr>
              <a:t>Aísla y señaliza el área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1800" b="0">
                <a:solidFill>
                  <a:srgbClr val="FFFFFF"/>
                </a:solidFill>
                <a:latin typeface="Open Sauce"/>
              </a:rPr>
              <a:t>Usa guantes resistentes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1800" b="0">
                <a:solidFill>
                  <a:srgbClr val="FFFFFF"/>
                </a:solidFill>
                <a:latin typeface="Open Sauce"/>
              </a:rPr>
              <a:t>Recoge con pinzas, nunca con las manos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1800" b="0">
                <a:solidFill>
                  <a:srgbClr val="FFFFFF"/>
                </a:solidFill>
                <a:latin typeface="Open Sauce"/>
              </a:rPr>
              <a:t>Deposítalos en un recipiente nuevo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D9A41E"/>
                </a:solidFill>
                <a:latin typeface="Open Sauce"/>
              </a:rPr>
              <a:t>•  </a:t>
            </a:r>
            <a:r>
              <a:rPr sz="1800" b="0">
                <a:solidFill>
                  <a:srgbClr val="FFFFFF"/>
                </a:solidFill>
                <a:latin typeface="Open Sauce"/>
              </a:rPr>
              <a:t>Limpia, desinfecta y registra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7498079"/>
            <a:ext cx="16824960" cy="1097280"/>
          </a:xfrm>
          <a:prstGeom prst="roundRect">
            <a:avLst>
              <a:gd name="adj" fmla="val 6000"/>
            </a:avLst>
          </a:prstGeom>
          <a:solidFill>
            <a:srgbClr val="FB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7498079"/>
            <a:ext cx="16093439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"/>
              </a:rPr>
              <a:t>Los simulacros hacen parte de la capacitación: practicar ayuda a reaccionar a tiempo.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8869680"/>
            <a:ext cx="16824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B6B80"/>
                </a:solidFill>
                <a:latin typeface="Open Sauce"/>
              </a:rPr>
              <a:t>El plan cubre siete situaciones: recolección interrumpida, derrames, incendios, inundaciones, falta de agua, falta de energía y aumento de residuos.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Tu seguridad primero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486400" cy="35661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shield" descr="p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56616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79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0B284D"/>
                </a:solidFill>
                <a:latin typeface="Open Sauce Heavy"/>
              </a:rPr>
              <a:t>Vacunación al día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Hepatitis B y tétanos para quien manipula residuos peligrosos.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46120"/>
            <a:ext cx="5486400" cy="35661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o p_glove" descr="p_glo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5661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0B284D"/>
                </a:solidFill>
                <a:latin typeface="Open Sauce Heavy"/>
              </a:rPr>
              <a:t>Elementos de protección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7091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Guantes y demás elementos definidos; mantenlos limpios.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3246120"/>
            <a:ext cx="5486400" cy="35661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o p_cross" descr="p_cro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0120" y="35661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78840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0B284D"/>
                </a:solidFill>
                <a:latin typeface="Open Sauce Heavy"/>
              </a:rPr>
              <a:t>Reglas básicas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47091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No comas mientras manejas residuos y no trabajes con heridas abiertas.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7040880"/>
            <a:ext cx="16824960" cy="2468880"/>
          </a:xfrm>
          <a:prstGeom prst="roundRect">
            <a:avLst>
              <a:gd name="adj" fmla="val 6000"/>
            </a:avLst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7132320"/>
            <a:ext cx="159105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Open Sauce Heavy"/>
              </a:rPr>
              <a:t>Si te pinchas o cortas con un residuo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7863840"/>
            <a:ext cx="15910559" cy="71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FFFFFF"/>
                </a:solidFill>
                <a:latin typeface="Open Sauce"/>
              </a:rPr>
              <a:t>1. Lava con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abundante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agua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 y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jabón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.   2. Si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fue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en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ojos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 o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boca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enjuaga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 con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abundante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agua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limpia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FFFFFF"/>
                </a:solidFill>
                <a:latin typeface="Open Sauce"/>
              </a:rPr>
              <a:t>3.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Reporta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 el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accidente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 de </a:t>
            </a:r>
            <a:r>
              <a:rPr sz="2000" b="0" dirty="0" err="1">
                <a:solidFill>
                  <a:srgbClr val="FFFFFF"/>
                </a:solidFill>
                <a:latin typeface="Open Sauce"/>
              </a:rPr>
              <a:t>trabajo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 a </a:t>
            </a:r>
            <a:r>
              <a:rPr lang="es-CO" sz="2000" dirty="0">
                <a:solidFill>
                  <a:srgbClr val="FFFFFF"/>
                </a:solidFill>
                <a:latin typeface="Open Sauce"/>
              </a:rPr>
              <a:t>tu jefe inmediato y al área de HSEQ</a:t>
            </a:r>
            <a:r>
              <a:rPr sz="2000" b="0" dirty="0">
                <a:solidFill>
                  <a:srgbClr val="FFFFFF"/>
                </a:solidFill>
                <a:latin typeface="Open Sauce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¿Cómo se hace seguimiento?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8321040" cy="26060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cal" descr="p_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566160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31720" y="356616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Cronograma 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758951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Cada centro formula su cronograma en el primer mes del año.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246120"/>
            <a:ext cx="8321040" cy="26060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o p_clip" descr="p_c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3566160"/>
            <a:ext cx="100584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35640" y="356616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Auditorías internas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4800600"/>
            <a:ext cx="758951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Revisan que se cumpla cada actividad del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989320"/>
            <a:ext cx="8321040" cy="26060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o i_book" descr="i_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6309359"/>
            <a:ext cx="1005840" cy="1005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31720" y="6309359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Capacitación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7543800"/>
            <a:ext cx="758951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Se mide con la cobertura de personas capacitadas y las capacitaciones realizadas.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5989320"/>
            <a:ext cx="8321040" cy="26060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o p_shield" descr="p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6309359"/>
            <a:ext cx="1005840" cy="1005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35640" y="6309359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Informe 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7543800"/>
            <a:ext cx="758951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Se entrega a la Secretaría de Salud con capacitaciones, accidentes y contingencias.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8823960"/>
            <a:ext cx="16824960" cy="86868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8823960"/>
            <a:ext cx="1609343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Open Sauce"/>
              </a:rPr>
              <a:t>Indicadores de capacitación: cobertura = personas capacitadas ÷ total de trabajadores; cumplimiento = capacitaciones realizadas ÷ programadas.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97280" y="329184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D9A41E"/>
                </a:solidFill>
                <a:latin typeface="Open Sauce"/>
              </a:rPr>
              <a:t>PARTE 3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097280" y="402336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600" b="1">
                <a:solidFill>
                  <a:srgbClr val="0B284D"/>
                </a:solidFill>
                <a:latin typeface="Open Sauce Heavy"/>
              </a:rPr>
              <a:t>PUNTO SEGURO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217920"/>
            <a:ext cx="2926080" cy="128016"/>
          </a:xfrm>
          <a:prstGeom prst="rect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6675120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>
                <a:solidFill>
                  <a:srgbClr val="5B6B80"/>
                </a:solidFill>
                <a:latin typeface="Open Sauce"/>
              </a:rPr>
              <a:t>Recepción de cortopunzantes de los pacientes.</a:t>
            </a:r>
          </a:p>
        </p:txBody>
      </p:sp>
      <p:pic>
        <p:nvPicPr>
          <p:cNvPr id="7" name="Icono seccion" descr="s_pu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0" y="3291840"/>
            <a:ext cx="4754880" cy="4754880"/>
          </a:xfrm>
          <a:prstGeom prst="rect">
            <a:avLst/>
          </a:prstGeom>
        </p:spPr>
      </p:pic>
      <p:sp>
        <p:nvSpPr>
          <p:cNvPr id="8" name="Pie"/>
          <p:cNvSpPr txBox="1"/>
          <p:nvPr/>
        </p:nvSpPr>
        <p:spPr>
          <a:xfrm>
            <a:off x="731520" y="989380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9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¿Por qué existe «Punto Seguro»?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577840" cy="626364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syringe" descr="p_syri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56616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594360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Open Sauce"/>
              </a:rPr>
              <a:t>La Resolución 591 de 2024 pide a quienes atienden pacientes crónicos o ambulatorios una estrategia para recibir sus cortopunzantes.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Open Sauce"/>
              </a:rPr>
              <a:t>Dispensamos insulinas, jeringas, agujas y lancetas: recibimos lo que se usa.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2461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3337560"/>
            <a:ext cx="8229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D9A41E"/>
                </a:solidFill>
                <a:latin typeface="Open Sauce Heav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35584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Identificar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93192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B80"/>
                </a:solidFill>
                <a:latin typeface="Open Sauce"/>
              </a:rPr>
              <a:t>a los pacientes que usan cortopunzantes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80" y="32461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298680" y="3337560"/>
            <a:ext cx="8229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D9A41E"/>
                </a:solidFill>
                <a:latin typeface="Open Sauce Heav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13080" y="335584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Orientar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13080" y="393192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B80"/>
                </a:solidFill>
                <a:latin typeface="Open Sauce"/>
              </a:rPr>
              <a:t>sobre el recipiente que deben usar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8463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4937759"/>
            <a:ext cx="8229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D9A41E"/>
                </a:solidFill>
                <a:latin typeface="Open Sauce Heav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95604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Recibir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53212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B80"/>
                </a:solidFill>
                <a:latin typeface="Open Sauce"/>
              </a:rPr>
              <a:t>los residuos en un punto fijo y seguro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80" y="48463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298680" y="4937759"/>
            <a:ext cx="8229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D9A41E"/>
                </a:solidFill>
                <a:latin typeface="Open Sauce Heav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13080" y="495604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Informar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13080" y="553212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B80"/>
                </a:solidFill>
                <a:latin typeface="Open Sauce"/>
              </a:rPr>
              <a:t>las condiciones de entrega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64465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6537959"/>
            <a:ext cx="8229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D9A41E"/>
                </a:solidFill>
                <a:latin typeface="Open Sauce Heavy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655624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Registrar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713232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B80"/>
                </a:solidFill>
                <a:latin typeface="Open Sauce"/>
              </a:rPr>
              <a:t>lo que se recibe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070080" y="64465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298680" y="6537959"/>
            <a:ext cx="8229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D9A41E"/>
                </a:solidFill>
                <a:latin typeface="Open Sauce Heavy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13080" y="655624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Gestionar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13080" y="713232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B80"/>
                </a:solidFill>
                <a:latin typeface="Open Sauce"/>
              </a:rPr>
              <a:t>con un gestor autorizado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8046720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0840" y="8138160"/>
            <a:ext cx="8229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D9A41E"/>
                </a:solidFill>
                <a:latin typeface="Open Sauce Heavy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815644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Educar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873252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B80"/>
                </a:solidFill>
                <a:latin typeface="Open Sauce"/>
              </a:rPr>
              <a:t>con campañas permanentes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Así deben entregar los pacientes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486400" cy="3749039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bottle" descr="p_bot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520440"/>
            <a:ext cx="1280160" cy="1280160"/>
          </a:xfrm>
          <a:prstGeom prst="rect">
            <a:avLst/>
          </a:prstGeom>
        </p:spPr>
      </p:pic>
      <p:pic>
        <p:nvPicPr>
          <p:cNvPr id="8" name="Icono i_check" descr="i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520440"/>
            <a:ext cx="1188720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502920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Botella rígida con rótulo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76072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Una botella plástica con tapa, rotulada con la fecha de inicio.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46120"/>
            <a:ext cx="5486400" cy="3749039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o p_bin_r" descr="p_bin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520440"/>
            <a:ext cx="1280160" cy="1280160"/>
          </a:xfrm>
          <a:prstGeom prst="rect">
            <a:avLst/>
          </a:prstGeom>
        </p:spPr>
      </p:pic>
      <p:pic>
        <p:nvPicPr>
          <p:cNvPr id="13" name="Icono i_check" descr="i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0" y="3520440"/>
            <a:ext cx="118872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6560" y="502920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Entrega a tiempo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76072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Cuando esté llena hasta ¾ partes o antes de 2 meses.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80" y="3246120"/>
            <a:ext cx="5486400" cy="3749039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o p_warn" descr="p_war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35840" y="3520440"/>
            <a:ext cx="1280160" cy="1280160"/>
          </a:xfrm>
          <a:prstGeom prst="rect">
            <a:avLst/>
          </a:prstGeom>
        </p:spPr>
      </p:pic>
      <p:pic>
        <p:nvPicPr>
          <p:cNvPr id="18" name="Icono p_cross" descr="p_cro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0" y="3520440"/>
            <a:ext cx="1188720" cy="1188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435840" y="502920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284D"/>
                </a:solidFill>
                <a:latin typeface="Open Sauce Heavy"/>
              </a:rPr>
              <a:t>No se aceptan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0" y="576072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5B6B80"/>
                </a:solidFill>
                <a:latin typeface="Open Sauce"/>
              </a:rPr>
              <a:t>Bolsas, cajas ni frascos de vidrio.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7223760"/>
            <a:ext cx="16824960" cy="2286000"/>
          </a:xfrm>
          <a:prstGeom prst="roundRect">
            <a:avLst>
              <a:gd name="adj" fmla="val 6000"/>
            </a:avLst>
          </a:prstGeom>
          <a:solidFill>
            <a:srgbClr val="FB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o p_syringe" descr="p_syrin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7452360"/>
            <a:ext cx="1828800" cy="1828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108960" y="7269480"/>
            <a:ext cx="1426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B284D"/>
                </a:solidFill>
                <a:latin typeface="Open Sauce Heavy"/>
              </a:rPr>
              <a:t>¿Qué pueden entregar?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8001000"/>
            <a:ext cx="14264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0B284D"/>
                </a:solidFill>
                <a:latin typeface="Open Sauce"/>
              </a:rPr>
              <a:t>Lapiceros de insulina, jeringas, lancetas y agujas usadas.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Así recibimos los cortopunzantes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p_glove" descr="p_glo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56616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79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0B284D"/>
                </a:solidFill>
                <a:latin typeface="Open Sauce Heavy"/>
              </a:rPr>
              <a:t>Usa guantes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B6B80"/>
                </a:solidFill>
                <a:latin typeface="Open Sauce"/>
              </a:rPr>
              <a:t>Siempre al recibir el recipiente.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o p_cross" descr="p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5661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0B284D"/>
                </a:solidFill>
                <a:latin typeface="Open Sauce Heavy"/>
              </a:rPr>
              <a:t>No lo abras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7091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B6B80"/>
                </a:solidFill>
                <a:latin typeface="Open Sauce"/>
              </a:rPr>
              <a:t>No manipules el contenido ni lo reutilices.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32461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o p_clip" descr="p_cl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0120" y="35661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78840" y="35661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0B284D"/>
                </a:solidFill>
                <a:latin typeface="Open Sauce Heavy"/>
              </a:rPr>
              <a:t>Verifica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47091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B6B80"/>
                </a:solidFill>
                <a:latin typeface="Open Sauce"/>
              </a:rPr>
              <a:t>Que esté sellado y rotulado.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o p_bin_r" descr="p_bin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6766559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40279" y="676655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0B284D"/>
                </a:solidFill>
                <a:latin typeface="Open Sauce Heavy"/>
              </a:rPr>
              <a:t>Registra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790955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B6B80"/>
                </a:solidFill>
                <a:latin typeface="Open Sauce"/>
              </a:rPr>
              <a:t>Anota la recepción en el Formato RH1.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o p_shield" descr="p_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6766559"/>
            <a:ext cx="914400" cy="914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09560" y="676655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0B284D"/>
                </a:solidFill>
                <a:latin typeface="Open Sauce Heavy"/>
              </a:rPr>
              <a:t>Guárdalo en el módulo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790955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B6B80"/>
                </a:solidFill>
                <a:latin typeface="Open Sauce"/>
              </a:rPr>
              <a:t>Deposítalo directamente en el módulo técnico.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70080" y="64465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o p_bottle" descr="p_bott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90120" y="6766559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578840" y="676655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0B284D"/>
                </a:solidFill>
                <a:latin typeface="Open Sauce Heavy"/>
              </a:rPr>
              <a:t>Orienta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0" y="790955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B6B80"/>
                </a:solidFill>
                <a:latin typeface="Open Sauce"/>
              </a:rPr>
              <a:t>Si el envase no cumple, explica cómo entregarlo.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Los anexos: la información de cada centro de trabajo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682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5B6B80"/>
                </a:solidFill>
                <a:latin typeface="Open Sauce"/>
              </a:rPr>
              <a:t>El PGIRASA es igual para todos; cada centro solo diligencia sus anexos.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4114800"/>
            <a:ext cx="822960" cy="822960"/>
          </a:xfrm>
          <a:prstGeom prst="ellipse">
            <a:avLst/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uce Heav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977640"/>
            <a:ext cx="2697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284D"/>
                </a:solidFill>
                <a:latin typeface="Open Sauce"/>
              </a:rPr>
              <a:t>Identificación del centro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3840480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12080" y="4114800"/>
            <a:ext cx="822960" cy="82296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4114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B284D"/>
                </a:solidFill>
                <a:latin typeface="Open Sauce Heav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77640"/>
            <a:ext cx="2697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284D"/>
                </a:solidFill>
                <a:latin typeface="Open Sauce"/>
              </a:rPr>
              <a:t>Fuentes de generación y destino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840480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64040" y="4114800"/>
            <a:ext cx="822960" cy="822960"/>
          </a:xfrm>
          <a:prstGeom prst="ellipse">
            <a:avLst/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64040" y="4114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uce Heav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3977640"/>
            <a:ext cx="2697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284D"/>
                </a:solidFill>
                <a:latin typeface="Open Sauce"/>
              </a:rPr>
              <a:t>Cuantificación y generador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487400" y="3840480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716000" y="4114800"/>
            <a:ext cx="822960" cy="82296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0" y="4114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B284D"/>
                </a:solidFill>
                <a:latin typeface="Open Sauce Heav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21840" y="3977640"/>
            <a:ext cx="2697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284D"/>
                </a:solidFill>
                <a:latin typeface="Open Sauce"/>
              </a:rPr>
              <a:t>Recipientes y puntos ecológicos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60720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0120" y="6035040"/>
            <a:ext cx="822960" cy="822960"/>
          </a:xfrm>
          <a:prstGeom prst="ellipse">
            <a:avLst/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60350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uce Heavy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897880"/>
            <a:ext cx="2697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284D"/>
                </a:solidFill>
                <a:latin typeface="Open Sauce"/>
              </a:rPr>
              <a:t>Unidades de almacenamiento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5760720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212080" y="6035040"/>
            <a:ext cx="822960" cy="82296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80" y="60350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B284D"/>
                </a:solidFill>
                <a:latin typeface="Open Sauce Heavy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897880"/>
            <a:ext cx="2697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284D"/>
                </a:solidFill>
                <a:latin typeface="Open Sauce"/>
              </a:rPr>
              <a:t>Gestión externa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5760720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464040" y="6035040"/>
            <a:ext cx="822960" cy="822960"/>
          </a:xfrm>
          <a:prstGeom prst="ellipse">
            <a:avLst/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64040" y="60350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uce Heavy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5897880"/>
            <a:ext cx="2697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284D"/>
                </a:solidFill>
                <a:latin typeface="Open Sauce"/>
              </a:rPr>
              <a:t>Plano y rutas internas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487400" y="5760720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3716000" y="6035040"/>
            <a:ext cx="822960" cy="82296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16000" y="60350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B284D"/>
                </a:solidFill>
                <a:latin typeface="Open Sauce Heavy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721840" y="5897880"/>
            <a:ext cx="2697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284D"/>
                </a:solidFill>
                <a:latin typeface="Open Sauce"/>
              </a:rPr>
              <a:t>Plan de contingencia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7680960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60120" y="7955280"/>
            <a:ext cx="822960" cy="822960"/>
          </a:xfrm>
          <a:prstGeom prst="ellipse">
            <a:avLst/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79552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uce Heavy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7818120"/>
            <a:ext cx="2697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284D"/>
                </a:solidFill>
                <a:latin typeface="Open Sauce"/>
              </a:rPr>
              <a:t>Capacitación y cronograma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83480" y="7680960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212080" y="7955280"/>
            <a:ext cx="822960" cy="82296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12080" y="79552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B284D"/>
                </a:solidFill>
                <a:latin typeface="Open Sauce Heavy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7818120"/>
            <a:ext cx="2697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284D"/>
                </a:solidFill>
                <a:latin typeface="Open Sauce"/>
              </a:rPr>
              <a:t>Recepción de cortopunzantes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35440" y="7680960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464040" y="7955280"/>
            <a:ext cx="822960" cy="822960"/>
          </a:xfrm>
          <a:prstGeom prst="ellipse">
            <a:avLst/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64040" y="79552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uce Heavy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69880" y="7818120"/>
            <a:ext cx="2697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284D"/>
                </a:solidFill>
                <a:latin typeface="Open Sauce"/>
              </a:rPr>
              <a:t>Informe anual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487400" y="7680960"/>
            <a:ext cx="4023360" cy="1783080"/>
          </a:xfrm>
          <a:prstGeom prst="roundRect">
            <a:avLst>
              <a:gd name="adj" fmla="val 6000"/>
            </a:avLst>
          </a:prstGeom>
          <a:solidFill>
            <a:srgbClr val="FB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716000" y="7680960"/>
            <a:ext cx="3566160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B284D"/>
                </a:solidFill>
                <a:latin typeface="Open Sauce"/>
              </a:rPr>
              <a:t>Cuando se abre un centro nuevo, se llenan primero estos anexos.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731520" y="2011680"/>
            <a:ext cx="16824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>
                <a:solidFill>
                  <a:srgbClr val="0B284D"/>
                </a:solidFill>
                <a:latin typeface="Open Sauce Heavy"/>
              </a:rPr>
              <a:t>Mis compromisos con los residuos</a:t>
            </a:r>
          </a:p>
        </p:txBody>
      </p:sp>
      <p:sp>
        <p:nvSpPr>
          <p:cNvPr id="4" name="Pie"/>
          <p:cNvSpPr txBox="1"/>
          <p:nvPr/>
        </p:nvSpPr>
        <p:spPr>
          <a:xfrm>
            <a:off x="731520" y="9893808"/>
            <a:ext cx="1371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B284D"/>
                </a:solidFill>
                <a:latin typeface="Open Sauce"/>
              </a:rPr>
              <a:t>Gestión HSEQ  |  Capacitación PGIRASA: gestión integral de residuos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8321040" cy="12801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o i_check" descr="i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2900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48840" y="32461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"/>
              </a:rPr>
              <a:t>Separo cada residuo en su caneca según el color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3246120"/>
            <a:ext cx="8321040" cy="12801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o i_check" descr="i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342900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52760" y="324612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"/>
              </a:rPr>
              <a:t>Lleno recipientes y bolsas solo hasta 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8321040" cy="12801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o i_check" descr="i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84632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48840" y="466344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"/>
              </a:rPr>
              <a:t>Rotulo las bolsas y los recipientes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663440"/>
            <a:ext cx="8321040" cy="12801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o i_check" descr="i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4846320"/>
            <a:ext cx="91440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52760" y="466344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"/>
              </a:rPr>
              <a:t>No mezclo residuos peligrosos con otros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080760"/>
            <a:ext cx="8321040" cy="12801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o i_check" descr="i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626364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48840" y="608076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"/>
              </a:rPr>
              <a:t>Uso guantes y elementos de protección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6080760"/>
            <a:ext cx="8321040" cy="12801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o i_check" descr="i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6263640"/>
            <a:ext cx="914400" cy="914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652760" y="608076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"/>
              </a:rPr>
              <a:t>Registro cada entrega en el Formato RH1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7498079"/>
            <a:ext cx="8321040" cy="12801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o i_check" descr="i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7680959"/>
            <a:ext cx="914400" cy="914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48840" y="7498079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"/>
              </a:rPr>
              <a:t>Oriento a los pacientes sobre «Punto Seguro»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7498079"/>
            <a:ext cx="8321040" cy="12801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ono i_check" descr="i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7680959"/>
            <a:ext cx="914400" cy="914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652760" y="7498079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B284D"/>
                </a:solidFill>
                <a:latin typeface="Open Sauce"/>
              </a:rPr>
              <a:t>Reporto de inmediato derrames, pinchazos o fallas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9052560"/>
            <a:ext cx="16824960" cy="731520"/>
          </a:xfrm>
          <a:prstGeom prst="roundRect">
            <a:avLst>
              <a:gd name="adj" fmla="val 6000"/>
            </a:avLst>
          </a:prstGeom>
          <a:solidFill>
            <a:srgbClr val="0B2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9052560"/>
            <a:ext cx="1609343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Open Sauce"/>
              </a:rPr>
              <a:t>Un buen manejo de residuos cuida a las personas y al ambiente.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Gracias 1"/>
          <p:cNvSpPr txBox="1"/>
          <p:nvPr/>
        </p:nvSpPr>
        <p:spPr>
          <a:xfrm>
            <a:off x="1097280" y="3474720"/>
            <a:ext cx="1005840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0" b="1">
                <a:solidFill>
                  <a:srgbClr val="0B284D"/>
                </a:solidFill>
                <a:latin typeface="Open Sauce Heavy"/>
              </a:rPr>
              <a:t>MUCHAS</a:t>
            </a:r>
          </a:p>
        </p:txBody>
      </p:sp>
      <p:sp>
        <p:nvSpPr>
          <p:cNvPr id="4" name="Gracias 2"/>
          <p:cNvSpPr txBox="1"/>
          <p:nvPr/>
        </p:nvSpPr>
        <p:spPr>
          <a:xfrm>
            <a:off x="1097280" y="5486400"/>
            <a:ext cx="1005840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0" b="1">
                <a:solidFill>
                  <a:srgbClr val="D9A41E"/>
                </a:solidFill>
                <a:latin typeface="Open Sauce Heavy"/>
              </a:rPr>
              <a:t>GRACIAS</a:t>
            </a:r>
          </a:p>
        </p:txBody>
      </p:sp>
      <p:pic>
        <p:nvPicPr>
          <p:cNvPr id="5" name="Ilustracion cierre" descr="p_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3017520"/>
            <a:ext cx="6035040" cy="6035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813816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5B6B80"/>
                </a:solidFill>
                <a:latin typeface="Open Sauce"/>
              </a:rPr>
              <a:t>Gestión HSEQ  |  Discolmets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5B6B80"/>
                </a:solidFill>
                <a:latin typeface="Open Sauce"/>
              </a:rPr>
              <a:t>calidad@discolmets.com.co</a:t>
            </a:r>
          </a:p>
        </p:txBody>
      </p:sp>
      <p:sp>
        <p:nvSpPr>
          <p:cNvPr id="7" name="Numero"/>
          <p:cNvSpPr txBox="1"/>
          <p:nvPr/>
        </p:nvSpPr>
        <p:spPr>
          <a:xfrm>
            <a:off x="16642080" y="98938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0B284D"/>
                </a:solidFill>
                <a:latin typeface="Open Sauce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3220</Words>
  <Application>Microsoft Office PowerPoint</Application>
  <PresentationFormat>Personalizado</PresentationFormat>
  <Paragraphs>422</Paragraphs>
  <Slides>29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Arial</vt:lpstr>
      <vt:lpstr>Open Sauce</vt:lpstr>
      <vt:lpstr>Calibri</vt:lpstr>
      <vt:lpstr>Open Sauce Heavy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Manejo seguro de cargas </dc:title>
  <cp:lastModifiedBy>USUARIO</cp:lastModifiedBy>
  <cp:revision>3</cp:revision>
  <dcterms:created xsi:type="dcterms:W3CDTF">2006-08-16T00:00:00Z</dcterms:created>
  <dcterms:modified xsi:type="dcterms:W3CDTF">2026-10-28T16:18:50Z</dcterms:modified>
  <dc:identifier>DAHXP8dQuGs</dc:identifier>
</cp:coreProperties>
</file>